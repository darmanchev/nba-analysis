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 точност</c:v>
                </c:pt>
              </c:strCache>
            </c:strRef>
          </c:tx>
          <c:spPr>
            <a:solidFill>
              <a:srgbClr val="22335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2335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731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2335C"/>
              </a:solidFill>
              <a:effectLst/>
            </c:spPr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1" i="0" u="none" strike="noStrike" kern="1200" baseline="0">
                    <a:solidFill>
                      <a:srgbClr val="1A1A1A"/>
                    </a:solidFill>
                    <a:latin typeface="Calibri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Decision Tree</c:v>
                </c:pt>
                <c:pt idx="1">
                  <c:v>Random Forest</c:v>
                </c:pt>
                <c:pt idx="2">
                  <c:v>XGBoost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0.691</c:v>
                </c:pt>
                <c:pt idx="1">
                  <c:v>0.776</c:v>
                </c:pt>
                <c:pt idx="2">
                  <c:v>0.761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55606E"/>
                </a:solidFill>
                <a:latin typeface="Calibri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2"/>
          <c:min val="0.6"/>
        </c:scaling>
        <c:delete val="1"/>
        <c:axPos val="l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000000"/>
                </a:solidFill>
                <a:latin typeface="Arial" panose="020B07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f7e1f2a7-3a43-4138-b2ac-d7713d6956a6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731C"/>
          </a:solidFill>
        </p:spPr>
      </p:sp>
      <p:sp>
        <p:nvSpPr>
          <p:cNvPr id="3" name="Text 1"/>
          <p:cNvSpPr/>
          <p:nvPr/>
        </p:nvSpPr>
        <p:spPr>
          <a:xfrm>
            <a:off x="914400" y="13716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8731C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КУРСОВ ПРОЕКТ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103327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A1A1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Random Forest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Класификация и прогнозиране върху данни на NBA играчи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32688" y="3794760"/>
            <a:ext cx="3840480" cy="0"/>
          </a:xfrm>
          <a:prstGeom prst="line">
            <a:avLst/>
          </a:prstGeom>
          <a:noFill/>
          <a:ln w="25400">
            <a:solidFill>
              <a:srgbClr val="E873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02336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практически случая:  </a:t>
            </a: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позиция на играч</a:t>
            </a:r>
            <a:r>
              <a:rPr lang="en-US" sz="17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</a:t>
            </a: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бъдеща кариера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Евгени Дарманчев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603504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Метод: Random Forest · Допълнителни: Decision Tree, XGBoost, K-Means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731C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СТРУКТУРА НА ПРОЕКТА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Какво ще разгледаме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Класификационен и клъстерен анализ · Random Forest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3737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10881360" cy="1298448"/>
          </a:xfrm>
          <a:prstGeom prst="rect">
            <a:avLst/>
          </a:prstGeom>
          <a:solidFill>
            <a:srgbClr val="F4F6F9"/>
          </a:solidFill>
          <a:ln w="12700">
            <a:solidFill>
              <a:srgbClr val="D5DCE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828800"/>
            <a:ext cx="109728" cy="1298448"/>
          </a:xfrm>
          <a:prstGeom prst="rect">
            <a:avLst/>
          </a:prstGeom>
          <a:solidFill>
            <a:srgbClr val="E8731C"/>
          </a:solidFill>
        </p:spPr>
      </p:sp>
      <p:sp>
        <p:nvSpPr>
          <p:cNvPr id="8" name="Shape 6"/>
          <p:cNvSpPr/>
          <p:nvPr/>
        </p:nvSpPr>
        <p:spPr>
          <a:xfrm>
            <a:off x="960120" y="2212848"/>
            <a:ext cx="548640" cy="548640"/>
          </a:xfrm>
          <a:prstGeom prst="ellipse">
            <a:avLst/>
          </a:prstGeom>
          <a:solidFill>
            <a:srgbClr val="E8731C"/>
          </a:solidFill>
        </p:spPr>
      </p:sp>
      <p:sp>
        <p:nvSpPr>
          <p:cNvPr id="9" name="Text 7"/>
          <p:cNvSpPr/>
          <p:nvPr/>
        </p:nvSpPr>
        <p:spPr>
          <a:xfrm>
            <a:off x="960120" y="2212848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783080" y="2011680"/>
            <a:ext cx="9509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Теоретична част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783080" y="2432304"/>
            <a:ext cx="95097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Forest: от решаващо дърво през bagging до ансамбъл. Предимства, недостатъци и сравнение с boosting.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310128"/>
            <a:ext cx="10881360" cy="1298448"/>
          </a:xfrm>
          <a:prstGeom prst="rect">
            <a:avLst/>
          </a:prstGeom>
          <a:solidFill>
            <a:srgbClr val="F4F6F9"/>
          </a:solidFill>
          <a:ln w="12700">
            <a:solidFill>
              <a:srgbClr val="D5DCE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310128"/>
            <a:ext cx="109728" cy="1298448"/>
          </a:xfrm>
          <a:prstGeom prst="rect">
            <a:avLst/>
          </a:prstGeom>
          <a:solidFill>
            <a:srgbClr val="22335C"/>
          </a:solidFill>
        </p:spPr>
      </p:sp>
      <p:sp>
        <p:nvSpPr>
          <p:cNvPr id="14" name="Shape 12"/>
          <p:cNvSpPr/>
          <p:nvPr/>
        </p:nvSpPr>
        <p:spPr>
          <a:xfrm>
            <a:off x="960120" y="3694176"/>
            <a:ext cx="548640" cy="548640"/>
          </a:xfrm>
          <a:prstGeom prst="ellipse">
            <a:avLst/>
          </a:prstGeom>
          <a:solidFill>
            <a:srgbClr val="22335C"/>
          </a:solidFill>
        </p:spPr>
      </p:sp>
      <p:sp>
        <p:nvSpPr>
          <p:cNvPr id="15" name="Text 13"/>
          <p:cNvSpPr/>
          <p:nvPr/>
        </p:nvSpPr>
        <p:spPr>
          <a:xfrm>
            <a:off x="960120" y="3694176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783080" y="3493008"/>
            <a:ext cx="9509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Случай 1 — Класификация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783080" y="3913632"/>
            <a:ext cx="95097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Предсказване на игровата позиция (PG/SG/SF/PF/C) по физика и статистика.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4791456"/>
            <a:ext cx="10881360" cy="1298448"/>
          </a:xfrm>
          <a:prstGeom prst="rect">
            <a:avLst/>
          </a:prstGeom>
          <a:solidFill>
            <a:srgbClr val="F4F6F9"/>
          </a:solidFill>
          <a:ln w="12700">
            <a:solidFill>
              <a:srgbClr val="D5DCE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4791456"/>
            <a:ext cx="109728" cy="1298448"/>
          </a:xfrm>
          <a:prstGeom prst="rect">
            <a:avLst/>
          </a:prstGeom>
          <a:solidFill>
            <a:srgbClr val="2E7D5B"/>
          </a:solidFill>
        </p:spPr>
      </p:sp>
      <p:sp>
        <p:nvSpPr>
          <p:cNvPr id="20" name="Shape 18"/>
          <p:cNvSpPr/>
          <p:nvPr/>
        </p:nvSpPr>
        <p:spPr>
          <a:xfrm>
            <a:off x="960120" y="5175504"/>
            <a:ext cx="548640" cy="548640"/>
          </a:xfrm>
          <a:prstGeom prst="ellipse">
            <a:avLst/>
          </a:prstGeom>
          <a:solidFill>
            <a:srgbClr val="2E7D5B"/>
          </a:solidFill>
        </p:spPr>
      </p:sp>
      <p:sp>
        <p:nvSpPr>
          <p:cNvPr id="21" name="Text 19"/>
          <p:cNvSpPr/>
          <p:nvPr/>
        </p:nvSpPr>
        <p:spPr>
          <a:xfrm>
            <a:off x="960120" y="5175504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3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783080" y="4974336"/>
            <a:ext cx="9509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Случай 2 — Прогноза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783080" y="5394960"/>
            <a:ext cx="95097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Каква ще е бъдещата кариера на млад играч (отпада / ролеви / звезда) по първите два сезона.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731C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ТЕОРЕТИЧНА ЧАСТ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Как работи Random Forest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Класификационен и клъстерен анализ · Random Forest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3737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3419856" cy="2468880"/>
          </a:xfrm>
          <a:prstGeom prst="rect">
            <a:avLst/>
          </a:prstGeom>
          <a:solidFill>
            <a:srgbClr val="F4F6F9"/>
          </a:solidFill>
          <a:ln w="12700">
            <a:solidFill>
              <a:srgbClr val="D5DCE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920240"/>
            <a:ext cx="3419856" cy="594360"/>
          </a:xfrm>
          <a:prstGeom prst="rect">
            <a:avLst/>
          </a:prstGeom>
          <a:solidFill>
            <a:srgbClr val="22335C"/>
          </a:solidFill>
        </p:spPr>
      </p:sp>
      <p:sp>
        <p:nvSpPr>
          <p:cNvPr id="8" name="Text 6"/>
          <p:cNvSpPr/>
          <p:nvPr/>
        </p:nvSpPr>
        <p:spPr>
          <a:xfrm>
            <a:off x="822960" y="1920240"/>
            <a:ext cx="305409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Решаващо дърво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2697480"/>
            <a:ext cx="2962656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Разделя данните по прагове на признаците (Gini/ентропия). Интуитивно, но нестабилно и склонно към преобучение.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041648" y="1920240"/>
            <a:ext cx="457200" cy="2468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5606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4370832" y="1920240"/>
            <a:ext cx="3419856" cy="2468880"/>
          </a:xfrm>
          <a:prstGeom prst="rect">
            <a:avLst/>
          </a:prstGeom>
          <a:solidFill>
            <a:srgbClr val="F4F6F9"/>
          </a:solidFill>
          <a:ln w="12700">
            <a:solidFill>
              <a:srgbClr val="D5DCE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70832" y="1920240"/>
            <a:ext cx="3419856" cy="594360"/>
          </a:xfrm>
          <a:prstGeom prst="rect">
            <a:avLst/>
          </a:prstGeom>
          <a:solidFill>
            <a:srgbClr val="E8731C"/>
          </a:solidFill>
        </p:spPr>
      </p:sp>
      <p:sp>
        <p:nvSpPr>
          <p:cNvPr id="13" name="Text 11"/>
          <p:cNvSpPr/>
          <p:nvPr/>
        </p:nvSpPr>
        <p:spPr>
          <a:xfrm>
            <a:off x="4553712" y="1920240"/>
            <a:ext cx="305409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Bagging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99432" y="2697480"/>
            <a:ext cx="2962656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 дървета върху bootstrap извадки; гласуване по мнозинство. Намалява дисперсията.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772400" y="1920240"/>
            <a:ext cx="457200" cy="2468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5606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→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8101584" y="1920240"/>
            <a:ext cx="3419856" cy="2468880"/>
          </a:xfrm>
          <a:prstGeom prst="rect">
            <a:avLst/>
          </a:prstGeom>
          <a:solidFill>
            <a:srgbClr val="F4F6F9"/>
          </a:solidFill>
          <a:ln w="12700">
            <a:solidFill>
              <a:srgbClr val="D5DCE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01584" y="1920240"/>
            <a:ext cx="3419856" cy="594360"/>
          </a:xfrm>
          <a:prstGeom prst="rect">
            <a:avLst/>
          </a:prstGeom>
          <a:solidFill>
            <a:srgbClr val="2E7D5B"/>
          </a:solidFill>
        </p:spPr>
      </p:sp>
      <p:sp>
        <p:nvSpPr>
          <p:cNvPr id="18" name="Text 16"/>
          <p:cNvSpPr/>
          <p:nvPr/>
        </p:nvSpPr>
        <p:spPr>
          <a:xfrm>
            <a:off x="8284464" y="1920240"/>
            <a:ext cx="305409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Random Forest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30184" y="2697480"/>
            <a:ext cx="2962656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случаен подбор на признаци при всяко разделяне → декорелирани дървета и устойчив ансамбъл.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40080" y="4709160"/>
            <a:ext cx="10881360" cy="1371600"/>
          </a:xfrm>
          <a:prstGeom prst="rect">
            <a:avLst/>
          </a:prstGeom>
          <a:solidFill>
            <a:srgbClr val="EDF1F6"/>
          </a:solidFill>
          <a:ln w="12700">
            <a:solidFill>
              <a:srgbClr val="D5DCE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4709160"/>
            <a:ext cx="109728" cy="1371600"/>
          </a:xfrm>
          <a:prstGeom prst="rect">
            <a:avLst/>
          </a:prstGeom>
          <a:solidFill>
            <a:srgbClr val="E8731C"/>
          </a:solidFill>
        </p:spPr>
      </p:sp>
      <p:sp>
        <p:nvSpPr>
          <p:cNvPr id="22" name="Text 20"/>
          <p:cNvSpPr/>
          <p:nvPr/>
        </p:nvSpPr>
        <p:spPr>
          <a:xfrm>
            <a:off x="914400" y="4864608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731C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Ключови свойства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4400" y="5285232"/>
            <a:ext cx="1024128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OOB оценка</a:t>
            </a:r>
            <a:r>
              <a:rPr lang="en-US" sz="15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вградена валидация · </a:t>
            </a: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r>
              <a:rPr lang="en-US" sz="15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важност на признаците · </a:t>
            </a: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паралелизуем</a:t>
            </a:r>
            <a:r>
              <a:rPr lang="en-US" sz="15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устойчив на шум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731C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ТЕОРЕТИЧНА ЧАСТ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Силни страни, слабости и сравнение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Класификационен и клъстерен анализ · Random Forest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3737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349240" cy="2286000"/>
          </a:xfrm>
          <a:prstGeom prst="rect">
            <a:avLst/>
          </a:prstGeom>
          <a:solidFill>
            <a:srgbClr val="F4F6F9"/>
          </a:solidFill>
          <a:ln w="12700">
            <a:solidFill>
              <a:srgbClr val="D5DCE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01168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7D5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Предимства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468880"/>
            <a:ext cx="493776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Висока точност без скалиране на признаците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Устойчивост на преобучение и шум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Дава важност на признаците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Лесна настройка, напълно паралелизуем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874520"/>
            <a:ext cx="5349240" cy="2286000"/>
          </a:xfrm>
          <a:prstGeom prst="rect">
            <a:avLst/>
          </a:prstGeom>
          <a:solidFill>
            <a:srgbClr val="F4F6F9"/>
          </a:solidFill>
          <a:ln w="12700">
            <a:solidFill>
              <a:srgbClr val="D5DCE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0" y="201168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392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Недостатъци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0" y="2468880"/>
            <a:ext cx="493776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По-бавен и по-обемен от едно дърво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По-слабо интерпретируем („черна кутия")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Бърка между припокриващи се класове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Слаб при екстраполация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389120"/>
            <a:ext cx="10881360" cy="1691640"/>
          </a:xfrm>
          <a:prstGeom prst="rect">
            <a:avLst/>
          </a:prstGeom>
          <a:solidFill>
            <a:srgbClr val="EDF1F6"/>
          </a:solidFill>
          <a:ln w="12700">
            <a:solidFill>
              <a:srgbClr val="D5DCE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45262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Спрямо другите методи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4937760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Tree: 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жертва интерпретируемост за по-висока точност и стабилност.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5394960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87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(boosting): 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строи дървета последователно; често по-точен, но по-чувствителен към хиперпараметри. RF се настройва по-лесно.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731C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ДАННИ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Датасети и обединяване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Класификационен и клъстерен анализ · Random Forest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3737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4937760" cy="2194560"/>
          </a:xfrm>
          <a:prstGeom prst="rect">
            <a:avLst/>
          </a:prstGeom>
          <a:solidFill>
            <a:srgbClr val="F4F6F9"/>
          </a:solidFill>
          <a:ln w="12700">
            <a:solidFill>
              <a:srgbClr val="D5DCE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084832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335C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all_seasons.csv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505456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· justinas · 1996–2023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926080"/>
            <a:ext cx="44805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12 844 реда (играч × сезон)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физика + статистика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няма колона за позиция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611112" y="1920240"/>
            <a:ext cx="4937760" cy="2194560"/>
          </a:xfrm>
          <a:prstGeom prst="rect">
            <a:avLst/>
          </a:prstGeom>
          <a:solidFill>
            <a:srgbClr val="F4F6F9"/>
          </a:solidFill>
          <a:ln w="12700">
            <a:solidFill>
              <a:srgbClr val="D5DCE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39712" y="2084832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335C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Seasons_Stats.csv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839712" y="2505456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историческа NBA статистика 1950–2017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39712" y="2926080"/>
            <a:ext cx="44805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съдържа колона Pos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източник на целевата променлива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свързване по име на играч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434840"/>
            <a:ext cx="10881360" cy="1645920"/>
          </a:xfrm>
          <a:prstGeom prst="rect">
            <a:avLst/>
          </a:prstGeom>
          <a:solidFill>
            <a:srgbClr val="EDF1F6"/>
          </a:solidFill>
          <a:ln w="12700">
            <a:solidFill>
              <a:srgbClr val="D5DCE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4434840"/>
            <a:ext cx="109728" cy="1645920"/>
          </a:xfrm>
          <a:prstGeom prst="rect">
            <a:avLst/>
          </a:prstGeom>
          <a:solidFill>
            <a:srgbClr val="E8731C"/>
          </a:solidFill>
        </p:spPr>
      </p:sp>
      <p:sp>
        <p:nvSpPr>
          <p:cNvPr id="16" name="Text 14"/>
          <p:cNvSpPr/>
          <p:nvPr/>
        </p:nvSpPr>
        <p:spPr>
          <a:xfrm>
            <a:off x="914400" y="4590288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731C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Обединяване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4992624"/>
            <a:ext cx="10241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Позицията на всеки играч = тази, на която е изиграл </a:t>
            </a: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най-много мачове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5440680"/>
            <a:ext cx="10241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Резултат за Случай 1:  </a:t>
            </a: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10 693 реда · 1806 играчи · 5 балансирани класа (~360 на клас).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731C"/>
          </a:solidFill>
        </p:spPr>
      </p:sp>
      <p:sp>
        <p:nvSpPr>
          <p:cNvPr id="3" name="Shape 1"/>
          <p:cNvSpPr/>
          <p:nvPr/>
        </p:nvSpPr>
        <p:spPr>
          <a:xfrm>
            <a:off x="640080" y="2148840"/>
            <a:ext cx="128016" cy="2103120"/>
          </a:xfrm>
          <a:prstGeom prst="rect">
            <a:avLst/>
          </a:prstGeom>
          <a:solidFill>
            <a:srgbClr val="E8731C"/>
          </a:solidFill>
        </p:spPr>
      </p:sp>
      <p:sp>
        <p:nvSpPr>
          <p:cNvPr id="4" name="Text 2"/>
          <p:cNvSpPr/>
          <p:nvPr/>
        </p:nvSpPr>
        <p:spPr>
          <a:xfrm>
            <a:off x="960120" y="22860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400" dirty="0">
                <a:solidFill>
                  <a:srgbClr val="E8731C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СЛУЧАЙ 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60120" y="2880360"/>
            <a:ext cx="103327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1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Класификация на игрова позиция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60120" y="388620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 · SG · SF · PF · C  —  по физика и сезонна статистика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731C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СЛУЧАЙ 1 · МЕТОДОЛОГИЯ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Капанът: изтичане на данни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Класификационен и клъстерен анализ · Random Forest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3737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6" name="Image 0" descr="/Users/user/programming/fmi/classification_cluster_analiz/izpitProject/deck_img/cv_compa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74520"/>
            <a:ext cx="6126480" cy="302666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995160" y="1874520"/>
            <a:ext cx="4526280" cy="1371600"/>
          </a:xfrm>
          <a:prstGeom prst="rect">
            <a:avLst/>
          </a:prstGeom>
          <a:solidFill>
            <a:srgbClr val="F4F6F9"/>
          </a:solidFill>
          <a:ln w="12700">
            <a:solidFill>
              <a:srgbClr val="D5DCE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93392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Проблемът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 играч има няколко сезона. Случайният KFold слага негови сезони и в train, и в test → моделът „разпознава играча", а не учи позицията.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995160" y="3429000"/>
            <a:ext cx="2194560" cy="1143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E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995160" y="3429000"/>
            <a:ext cx="91440" cy="1143000"/>
          </a:xfrm>
          <a:prstGeom prst="rect">
            <a:avLst/>
          </a:prstGeom>
          <a:solidFill>
            <a:srgbClr val="22335C"/>
          </a:solidFill>
        </p:spPr>
      </p:sp>
      <p:sp>
        <p:nvSpPr>
          <p:cNvPr id="12" name="Text 9"/>
          <p:cNvSpPr/>
          <p:nvPr/>
        </p:nvSpPr>
        <p:spPr>
          <a:xfrm>
            <a:off x="7196328" y="3520440"/>
            <a:ext cx="1883664" cy="628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335C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0.837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7196328" y="4137660"/>
            <a:ext cx="188366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KFold (с изтичане)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9326880" y="3429000"/>
            <a:ext cx="2194560" cy="1143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E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9326880" y="3429000"/>
            <a:ext cx="91440" cy="1143000"/>
          </a:xfrm>
          <a:prstGeom prst="rect">
            <a:avLst/>
          </a:prstGeom>
          <a:solidFill>
            <a:srgbClr val="2E7D5B"/>
          </a:solidFill>
        </p:spPr>
      </p:sp>
      <p:sp>
        <p:nvSpPr>
          <p:cNvPr id="16" name="Text 13"/>
          <p:cNvSpPr/>
          <p:nvPr/>
        </p:nvSpPr>
        <p:spPr>
          <a:xfrm>
            <a:off x="9528048" y="3520440"/>
            <a:ext cx="1883664" cy="628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7D5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0.774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9528048" y="4137660"/>
            <a:ext cx="188366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GroupKFold (честно)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40080" y="5074920"/>
            <a:ext cx="6126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GroupKFold / GroupShuffleSplit — разделяне по играч.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731C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СЛУЧАЙ 1 · РЕЗУЛТАТИ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Точност и важност на признаците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Класификационен и клъстерен анализ · Random Forest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3737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6" name="Image 0" descr="/Users/user/programming/fmi/classification_cluster_analiz/izpitProject/deck_img/pos_cm_i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7315200" cy="25054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183880" y="1920240"/>
            <a:ext cx="3337560" cy="2505456"/>
          </a:xfrm>
          <a:prstGeom prst="rect">
            <a:avLst/>
          </a:prstGeom>
          <a:solidFill>
            <a:srgbClr val="F4F6F9"/>
          </a:solidFill>
          <a:ln w="12700">
            <a:solidFill>
              <a:srgbClr val="D5DCE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366760" y="2048256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731C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Кратко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366760" y="2395728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Грешките са между </a:t>
            </a: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съседни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позиции (SG↔SF).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366760" y="3154680"/>
            <a:ext cx="301752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Най-важни: </a:t>
            </a: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ръст, тегло, борби/асистенции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баскетболната интуиция.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461772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Сравнение на моделите · CV точност (GroupKFold)</a:t>
            </a:r>
            <a:endParaRPr lang="en-US" sz="14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640080" y="4892040"/>
          <a:ext cx="6583680" cy="141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3" name="Shape 9"/>
          <p:cNvSpPr/>
          <p:nvPr/>
        </p:nvSpPr>
        <p:spPr>
          <a:xfrm>
            <a:off x="7498080" y="4892040"/>
            <a:ext cx="1920240" cy="1143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E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498080" y="4892040"/>
            <a:ext cx="91440" cy="1143000"/>
          </a:xfrm>
          <a:prstGeom prst="rect">
            <a:avLst/>
          </a:prstGeom>
          <a:solidFill>
            <a:srgbClr val="2E7D5B"/>
          </a:solidFill>
        </p:spPr>
      </p:sp>
      <p:sp>
        <p:nvSpPr>
          <p:cNvPr id="15" name="Text 11"/>
          <p:cNvSpPr/>
          <p:nvPr/>
        </p:nvSpPr>
        <p:spPr>
          <a:xfrm>
            <a:off x="7699248" y="4983480"/>
            <a:ext cx="1609344" cy="628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7D5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0.87</a:t>
            </a:r>
            <a:endParaRPr lang="en-US" sz="3000" dirty="0"/>
          </a:p>
        </p:txBody>
      </p:sp>
      <p:sp>
        <p:nvSpPr>
          <p:cNvPr id="16" name="Text 12"/>
          <p:cNvSpPr/>
          <p:nvPr/>
        </p:nvSpPr>
        <p:spPr>
          <a:xfrm>
            <a:off x="7699248" y="5600700"/>
            <a:ext cx="160934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класа (G/F/C)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9601200" y="4892040"/>
            <a:ext cx="1920240" cy="1143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E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9601200" y="4892040"/>
            <a:ext cx="91440" cy="1143000"/>
          </a:xfrm>
          <a:prstGeom prst="rect">
            <a:avLst/>
          </a:prstGeom>
          <a:solidFill>
            <a:srgbClr val="E8731C"/>
          </a:solidFill>
        </p:spPr>
      </p:sp>
      <p:sp>
        <p:nvSpPr>
          <p:cNvPr id="19" name="Text 15"/>
          <p:cNvSpPr/>
          <p:nvPr/>
        </p:nvSpPr>
        <p:spPr>
          <a:xfrm>
            <a:off x="9802368" y="4983480"/>
            <a:ext cx="1609344" cy="628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731C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0.30</a:t>
            </a:r>
            <a:endParaRPr lang="en-US" sz="3000" dirty="0"/>
          </a:p>
        </p:txBody>
      </p:sp>
      <p:sp>
        <p:nvSpPr>
          <p:cNvPr id="20" name="Text 16"/>
          <p:cNvSpPr/>
          <p:nvPr/>
        </p:nvSpPr>
        <p:spPr>
          <a:xfrm>
            <a:off x="9802368" y="5600700"/>
            <a:ext cx="160934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ARI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731C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СЛУЧАЙ 1 · КОНТЕКСТ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Клъстериране и сравнение с Kaggle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Класификационен и клъстерен анализ · Random Forest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3737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6" name="Image 0" descr="/Users/user/programming/fmi/classification_cluster_analiz/izpitProject/deck_img/kmeans_pc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74520"/>
            <a:ext cx="6035040" cy="2240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4160520"/>
            <a:ext cx="603504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Неконтролирано (K-Means + PCA): </a:t>
            </a: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етикети алгоритъмът улавя едрото разделение център–гард, но бърка съседните роли (ARI ≈ 0.30) — същият извод като модела.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903720" y="1874520"/>
            <a:ext cx="4617720" cy="4023360"/>
          </a:xfrm>
          <a:prstGeom prst="rect">
            <a:avLst/>
          </a:prstGeom>
          <a:solidFill>
            <a:srgbClr val="F4F6F9"/>
          </a:solidFill>
          <a:ln w="12700">
            <a:solidFill>
              <a:srgbClr val="D5DCE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132320" y="201168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335C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Спрямо анализите в Kaggle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132320" y="2560320"/>
            <a:ext cx="146304" cy="146304"/>
          </a:xfrm>
          <a:prstGeom prst="ellipse">
            <a:avLst/>
          </a:prstGeom>
          <a:solidFill>
            <a:srgbClr val="E8731C"/>
          </a:solidFill>
        </p:spPr>
      </p:sp>
      <p:sp>
        <p:nvSpPr>
          <p:cNvPr id="11" name="Text 8"/>
          <p:cNvSpPr/>
          <p:nvPr/>
        </p:nvSpPr>
        <p:spPr>
          <a:xfrm>
            <a:off x="7360920" y="2478024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Повечето notebook-и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360920" y="2807208"/>
            <a:ext cx="402336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правят клъстериране (KMeans), защото датасетът няма позиция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132320" y="3657600"/>
            <a:ext cx="146304" cy="146304"/>
          </a:xfrm>
          <a:prstGeom prst="ellipse">
            <a:avLst/>
          </a:prstGeom>
          <a:solidFill>
            <a:srgbClr val="E8731C"/>
          </a:solidFill>
        </p:spPr>
      </p:sp>
      <p:sp>
        <p:nvSpPr>
          <p:cNvPr id="14" name="Text 11"/>
          <p:cNvSpPr/>
          <p:nvPr/>
        </p:nvSpPr>
        <p:spPr>
          <a:xfrm>
            <a:off x="7360920" y="3575304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Нашият принос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360920" y="3904488"/>
            <a:ext cx="402336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обогатихме данните и решихме контролирана класификация с реални етикети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132320" y="4754880"/>
            <a:ext cx="146304" cy="146304"/>
          </a:xfrm>
          <a:prstGeom prst="ellipse">
            <a:avLst/>
          </a:prstGeom>
          <a:solidFill>
            <a:srgbClr val="E8731C"/>
          </a:solidFill>
        </p:spPr>
      </p:sp>
      <p:sp>
        <p:nvSpPr>
          <p:cNvPr id="17" name="Text 14"/>
          <p:cNvSpPr/>
          <p:nvPr/>
        </p:nvSpPr>
        <p:spPr>
          <a:xfrm>
            <a:off x="7360920" y="4672584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Методология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360920" y="5001768"/>
            <a:ext cx="402336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показахме и измерихме изтичането (KFold↔GroupKFold) — рядко адресирано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731C"/>
          </a:solidFill>
        </p:spPr>
      </p:sp>
      <p:sp>
        <p:nvSpPr>
          <p:cNvPr id="3" name="Shape 1"/>
          <p:cNvSpPr/>
          <p:nvPr/>
        </p:nvSpPr>
        <p:spPr>
          <a:xfrm>
            <a:off x="640080" y="2148840"/>
            <a:ext cx="128016" cy="2103120"/>
          </a:xfrm>
          <a:prstGeom prst="rect">
            <a:avLst/>
          </a:prstGeom>
          <a:solidFill>
            <a:srgbClr val="E8731C"/>
          </a:solidFill>
        </p:spPr>
      </p:sp>
      <p:sp>
        <p:nvSpPr>
          <p:cNvPr id="4" name="Text 2"/>
          <p:cNvSpPr/>
          <p:nvPr/>
        </p:nvSpPr>
        <p:spPr>
          <a:xfrm>
            <a:off x="960120" y="22860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400" dirty="0">
                <a:solidFill>
                  <a:srgbClr val="E8731C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СЛУЧАЙ 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60120" y="2880360"/>
            <a:ext cx="103327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1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Прогноза на бъдеща кариера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60120" y="388620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първите два сезона  →  отпада / ролеви играч / звезда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731C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СЛУЧАЙ 2 · ПОСТАНОВКА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Задача и коректна методология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Класификационен и клъстерен анализ · Random Forest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3737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Разделяне във времето 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5212080" cy="914400"/>
          </a:xfrm>
          <a:prstGeom prst="rect">
            <a:avLst/>
          </a:prstGeom>
          <a:solidFill>
            <a:srgbClr val="22335C"/>
          </a:solidFill>
        </p:spPr>
      </p:sp>
      <p:sp>
        <p:nvSpPr>
          <p:cNvPr id="8" name="Text 6"/>
          <p:cNvSpPr/>
          <p:nvPr/>
        </p:nvSpPr>
        <p:spPr>
          <a:xfrm>
            <a:off x="822960" y="2286000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Сезони 1–2  →  ПРИЗНАЦИ
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физика, статистика, „sophomore leap", драфт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806440" y="2286000"/>
            <a:ext cx="5943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731C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6355080" y="2286000"/>
            <a:ext cx="5166360" cy="914400"/>
          </a:xfrm>
          <a:prstGeom prst="rect">
            <a:avLst/>
          </a:prstGeom>
          <a:solidFill>
            <a:srgbClr val="2E7D5B"/>
          </a:solidFill>
        </p:spPr>
      </p:sp>
      <p:sp>
        <p:nvSpPr>
          <p:cNvPr id="11" name="Text 9"/>
          <p:cNvSpPr/>
          <p:nvPr/>
        </p:nvSpPr>
        <p:spPr>
          <a:xfrm>
            <a:off x="6537960" y="2286000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Сезони 3+  →  ЦЕЛ (бъдеще)
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изчислена от ДРУГИ сезони → няма тавтология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520440"/>
            <a:ext cx="3419856" cy="1417320"/>
          </a:xfrm>
          <a:prstGeom prst="rect">
            <a:avLst/>
          </a:prstGeom>
          <a:solidFill>
            <a:srgbClr val="F4F6F9"/>
          </a:solidFill>
          <a:ln w="12700">
            <a:solidFill>
              <a:srgbClr val="D5DCE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520440"/>
            <a:ext cx="3419856" cy="457200"/>
          </a:xfrm>
          <a:prstGeom prst="rect">
            <a:avLst/>
          </a:prstGeom>
          <a:solidFill>
            <a:srgbClr val="C0392B"/>
          </a:solidFill>
        </p:spPr>
      </p:sp>
      <p:sp>
        <p:nvSpPr>
          <p:cNvPr id="14" name="Text 12"/>
          <p:cNvSpPr/>
          <p:nvPr/>
        </p:nvSpPr>
        <p:spPr>
          <a:xfrm>
            <a:off x="822960" y="35204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Out of League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4041648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достига 3-ти сезон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455371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264 играчи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70832" y="3520440"/>
            <a:ext cx="3419856" cy="1417320"/>
          </a:xfrm>
          <a:prstGeom prst="rect">
            <a:avLst/>
          </a:prstGeom>
          <a:solidFill>
            <a:srgbClr val="F4F6F9"/>
          </a:solidFill>
          <a:ln w="12700">
            <a:solidFill>
              <a:srgbClr val="D5DCE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70832" y="3520440"/>
            <a:ext cx="3419856" cy="457200"/>
          </a:xfrm>
          <a:prstGeom prst="rect">
            <a:avLst/>
          </a:prstGeom>
          <a:solidFill>
            <a:srgbClr val="22335C"/>
          </a:solidFill>
        </p:spPr>
      </p:sp>
      <p:sp>
        <p:nvSpPr>
          <p:cNvPr id="19" name="Text 17"/>
          <p:cNvSpPr/>
          <p:nvPr/>
        </p:nvSpPr>
        <p:spPr>
          <a:xfrm>
            <a:off x="4553712" y="35204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Role Player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53712" y="4041648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играе 3+, под 12 точки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53712" y="455371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335C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1137 играчи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101584" y="3520440"/>
            <a:ext cx="3419856" cy="1417320"/>
          </a:xfrm>
          <a:prstGeom prst="rect">
            <a:avLst/>
          </a:prstGeom>
          <a:solidFill>
            <a:srgbClr val="F4F6F9"/>
          </a:solidFill>
          <a:ln w="12700">
            <a:solidFill>
              <a:srgbClr val="D5DCE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01584" y="3520440"/>
            <a:ext cx="3419856" cy="457200"/>
          </a:xfrm>
          <a:prstGeom prst="rect">
            <a:avLst/>
          </a:prstGeom>
          <a:solidFill>
            <a:srgbClr val="2E7D5B"/>
          </a:solidFill>
        </p:spPr>
      </p:sp>
      <p:sp>
        <p:nvSpPr>
          <p:cNvPr id="24" name="Text 22"/>
          <p:cNvSpPr/>
          <p:nvPr/>
        </p:nvSpPr>
        <p:spPr>
          <a:xfrm>
            <a:off x="8284464" y="35204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Star / Starter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284464" y="4041648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играе 3+, над 12 точки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284464" y="455371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5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233 играчи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" y="5166360"/>
            <a:ext cx="10881360" cy="914400"/>
          </a:xfrm>
          <a:prstGeom prst="rect">
            <a:avLst/>
          </a:prstGeom>
          <a:solidFill>
            <a:srgbClr val="EDF1F6"/>
          </a:solidFill>
          <a:ln w="12700">
            <a:solidFill>
              <a:srgbClr val="D5DCE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68680" y="5285232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survivorship bias:  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 играчи с дебют ≤ 2017-18 (бъдещето им вече е наблюдаемо).   </a:t>
            </a:r>
            <a:r>
              <a:rPr lang="en-US" sz="1350" b="1" dirty="0">
                <a:solidFill>
                  <a:srgbClr val="E87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Дисбаланс:  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class_weight=balanced + оптимизация по macro-F1.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731C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СЛУЧАЙ 2 · РЕЗУЛТАТИ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Прогнозна способност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Класификационен и клъстерен анализ · Random Forest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3737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pic>
        <p:nvPicPr>
          <p:cNvPr id="6" name="Image 0" descr="/Users/user/programming/fmi/classification_cluster_analiz/izpitProject/deck_img/rookie_cm_im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20240"/>
            <a:ext cx="7315200" cy="25054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183880" y="1920240"/>
            <a:ext cx="3337560" cy="2505456"/>
          </a:xfrm>
          <a:prstGeom prst="rect">
            <a:avLst/>
          </a:prstGeom>
          <a:solidFill>
            <a:srgbClr val="F4F6F9"/>
          </a:solidFill>
          <a:ln w="12700">
            <a:solidFill>
              <a:srgbClr val="D5DCE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366760" y="2048256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731C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Кратко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366760" y="2395728"/>
            <a:ext cx="301752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Моделът ловѝ и </a:t>
            </a: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редките класове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(звезди и отпаднали), не само мнозинството.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366760" y="3246120"/>
            <a:ext cx="301752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 сигнали: </a:t>
            </a: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точки и мачове във 2-ри сезон, растеж, драфт №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4709160"/>
            <a:ext cx="2514600" cy="1143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E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" y="4709160"/>
            <a:ext cx="91440" cy="1143000"/>
          </a:xfrm>
          <a:prstGeom prst="rect">
            <a:avLst/>
          </a:prstGeom>
          <a:solidFill>
            <a:srgbClr val="22335C"/>
          </a:solidFill>
        </p:spPr>
      </p:sp>
      <p:sp>
        <p:nvSpPr>
          <p:cNvPr id="13" name="Text 10"/>
          <p:cNvSpPr/>
          <p:nvPr/>
        </p:nvSpPr>
        <p:spPr>
          <a:xfrm>
            <a:off x="841248" y="4800600"/>
            <a:ext cx="2203704" cy="628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335C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0.75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841248" y="5417820"/>
            <a:ext cx="220370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точност (3 класа)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337560" y="4709160"/>
            <a:ext cx="2514600" cy="1143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E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337560" y="4709160"/>
            <a:ext cx="91440" cy="1143000"/>
          </a:xfrm>
          <a:prstGeom prst="rect">
            <a:avLst/>
          </a:prstGeom>
          <a:solidFill>
            <a:srgbClr val="55606E"/>
          </a:solidFill>
        </p:spPr>
      </p:sp>
      <p:sp>
        <p:nvSpPr>
          <p:cNvPr id="17" name="Text 14"/>
          <p:cNvSpPr/>
          <p:nvPr/>
        </p:nvSpPr>
        <p:spPr>
          <a:xfrm>
            <a:off x="3538728" y="4800600"/>
            <a:ext cx="2203704" cy="628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5606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0.70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3538728" y="5417820"/>
            <a:ext cx="220370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базова линия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035040" y="4709160"/>
            <a:ext cx="2514600" cy="1143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E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035040" y="4709160"/>
            <a:ext cx="91440" cy="1143000"/>
          </a:xfrm>
          <a:prstGeom prst="rect">
            <a:avLst/>
          </a:prstGeom>
          <a:solidFill>
            <a:srgbClr val="E8731C"/>
          </a:solidFill>
        </p:spPr>
      </p:sp>
      <p:sp>
        <p:nvSpPr>
          <p:cNvPr id="21" name="Text 18"/>
          <p:cNvSpPr/>
          <p:nvPr/>
        </p:nvSpPr>
        <p:spPr>
          <a:xfrm>
            <a:off x="6236208" y="4800600"/>
            <a:ext cx="2203704" cy="628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731C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+5.8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6236208" y="5417820"/>
            <a:ext cx="220370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п.п. над baseline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8732520" y="4709160"/>
            <a:ext cx="2788920" cy="1143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E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732520" y="4709160"/>
            <a:ext cx="91440" cy="1143000"/>
          </a:xfrm>
          <a:prstGeom prst="rect">
            <a:avLst/>
          </a:prstGeom>
          <a:solidFill>
            <a:srgbClr val="2E7D5B"/>
          </a:solidFill>
        </p:spPr>
      </p:sp>
      <p:sp>
        <p:nvSpPr>
          <p:cNvPr id="25" name="Text 22"/>
          <p:cNvSpPr/>
          <p:nvPr/>
        </p:nvSpPr>
        <p:spPr>
          <a:xfrm>
            <a:off x="8933688" y="4800600"/>
            <a:ext cx="2478024" cy="628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7D5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0.64</a:t>
            </a:r>
            <a:endParaRPr lang="en-US" sz="3000" dirty="0"/>
          </a:p>
        </p:txBody>
      </p:sp>
      <p:sp>
        <p:nvSpPr>
          <p:cNvPr id="26" name="Text 23"/>
          <p:cNvSpPr/>
          <p:nvPr/>
        </p:nvSpPr>
        <p:spPr>
          <a:xfrm>
            <a:off x="8933688" y="5417820"/>
            <a:ext cx="247802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 (тунинг)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731C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СЛУЧАЙ 2 · СРАВНЕНИЕ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Спрямо еталона в Kaggle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Класификационен и клъстерен анализ · Random Forest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3737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640080" y="1965960"/>
          <a:ext cx="10881360" cy="2724912"/>
        </p:xfrm>
        <a:graphic>
          <a:graphicData uri="http://schemas.openxmlformats.org/drawingml/2006/table">
            <a:tbl>
              <a:tblPr/>
              <a:tblGrid>
                <a:gridCol w="2468880"/>
                <a:gridCol w="4023360"/>
                <a:gridCol w="4389120"/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rebuchet MS" panose="020B0603020202020204" pitchFamily="34" charset="0"/>
                          <a:ea typeface="Trebuchet MS" panose="020B0603020202020204" pitchFamily="34" charset="-122"/>
                          <a:cs typeface="Trebuchet MS" panose="020B0603020202020204" pitchFamily="34" charset="-120"/>
                        </a:rPr>
                        <a:t>Аспект</a:t>
                      </a:r>
                      <a:endParaRPr lang="en-US" sz="1350" dirty="0"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rebuchet MS" panose="020B0603020202020204" pitchFamily="34" charset="0"/>
                          <a:ea typeface="Trebuchet MS" panose="020B0603020202020204" pitchFamily="34" charset="-122"/>
                          <a:cs typeface="Trebuchet MS" panose="020B0603020202020204" pitchFamily="34" charset="-120"/>
                        </a:rPr>
                        <a:t>Еталон „5-Year Rookie"</a:t>
                      </a:r>
                      <a:endParaRPr lang="en-US" sz="1350" dirty="0"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rebuchet MS" panose="020B0603020202020204" pitchFamily="34" charset="0"/>
                          <a:ea typeface="Trebuchet MS" panose="020B0603020202020204" pitchFamily="34" charset="-122"/>
                          <a:cs typeface="Trebuchet MS" panose="020B0603020202020204" pitchFamily="34" charset="-120"/>
                        </a:rPr>
                        <a:t>Нашият проект</a:t>
                      </a:r>
                      <a:endParaRPr lang="en-US" sz="1350" dirty="0"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31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Цел (target)</a:t>
                      </a:r>
                      <a:endParaRPr lang="en-US" sz="13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бинарна: ≥5 сезона да/не</a:t>
                      </a:r>
                      <a:endParaRPr lang="en-US" sz="13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класа: отпада / ролеви / звезда</a:t>
                      </a:r>
                      <a:endParaRPr lang="en-US" sz="13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Признаци</a:t>
                      </a:r>
                      <a:endParaRPr lang="en-US" sz="13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само rookie сезон</a:t>
                      </a:r>
                      <a:endParaRPr lang="en-US" sz="13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сезона + растеж (sophomore leap)</a:t>
                      </a:r>
                      <a:endParaRPr lang="en-US" sz="13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Survivorship bias</a:t>
                      </a:r>
                      <a:endParaRPr lang="en-US" sz="13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обикновено пренебрегнат</a:t>
                      </a:r>
                      <a:endParaRPr lang="en-US" sz="13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изрично премахнат (дебют ≤2017-18)</a:t>
                      </a:r>
                      <a:endParaRPr lang="en-US" sz="13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Точност</a:t>
                      </a:r>
                      <a:endParaRPr lang="en-US" sz="13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LogReg ~0.72 · RF ~0.75</a:t>
                      </a:r>
                      <a:endParaRPr lang="en-US" sz="13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~0.75 при по-трудна 3-класова задача</a:t>
                      </a:r>
                      <a:endParaRPr lang="en-US" sz="13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5212080"/>
            <a:ext cx="10881360" cy="868680"/>
          </a:xfrm>
          <a:prstGeom prst="rect">
            <a:avLst/>
          </a:prstGeom>
          <a:solidFill>
            <a:srgbClr val="EDF1F6"/>
          </a:solidFill>
          <a:ln w="12700">
            <a:solidFill>
              <a:srgbClr val="D5DCE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5212080"/>
            <a:ext cx="91440" cy="868680"/>
          </a:xfrm>
          <a:prstGeom prst="rect">
            <a:avLst/>
          </a:prstGeom>
          <a:solidFill>
            <a:srgbClr val="E8731C"/>
          </a:solidFill>
        </p:spPr>
      </p:sp>
      <p:sp>
        <p:nvSpPr>
          <p:cNvPr id="9" name="Text 6"/>
          <p:cNvSpPr/>
          <p:nvPr/>
        </p:nvSpPr>
        <p:spPr>
          <a:xfrm>
            <a:off x="914400" y="5212080"/>
            <a:ext cx="1033272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7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Честно сравнение: 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суровата точност не е пряко сравнима (3 класа срещу 2) — затова гледаме прираста над baseline и macro-F1.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731C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ИЗВОДИ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Класификационен и клъстерен анализ · Random Forest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3737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469390"/>
            <a:ext cx="10881360" cy="960120"/>
          </a:xfrm>
          <a:prstGeom prst="rect">
            <a:avLst/>
          </a:prstGeom>
          <a:solidFill>
            <a:srgbClr val="F4F6F9"/>
          </a:solidFill>
          <a:ln w="12700">
            <a:solidFill>
              <a:srgbClr val="D5DCE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1716278"/>
            <a:ext cx="457200" cy="457200"/>
          </a:xfrm>
          <a:prstGeom prst="ellipse">
            <a:avLst/>
          </a:prstGeom>
          <a:solidFill>
            <a:srgbClr val="E8731C"/>
          </a:solidFill>
        </p:spPr>
      </p:sp>
      <p:sp>
        <p:nvSpPr>
          <p:cNvPr id="8" name="Text 6"/>
          <p:cNvSpPr/>
          <p:nvPr/>
        </p:nvSpPr>
        <p:spPr>
          <a:xfrm>
            <a:off x="868680" y="171627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08760" y="1615694"/>
            <a:ext cx="9875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Random Forest е силен и устойчив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08760" y="1981454"/>
            <a:ext cx="987552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печели ясно спрямо едно дърво; наравно с XGBoost, но по-лесен за настройка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2548382"/>
            <a:ext cx="10881360" cy="960120"/>
          </a:xfrm>
          <a:prstGeom prst="rect">
            <a:avLst/>
          </a:prstGeom>
          <a:solidFill>
            <a:srgbClr val="F4F6F9"/>
          </a:solidFill>
          <a:ln w="12700">
            <a:solidFill>
              <a:srgbClr val="D5DCE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2795270"/>
            <a:ext cx="457200" cy="457200"/>
          </a:xfrm>
          <a:prstGeom prst="ellipse">
            <a:avLst/>
          </a:prstGeom>
          <a:solidFill>
            <a:srgbClr val="E8731C"/>
          </a:solidFill>
        </p:spPr>
      </p:sp>
      <p:sp>
        <p:nvSpPr>
          <p:cNvPr id="13" name="Text 11"/>
          <p:cNvSpPr/>
          <p:nvPr/>
        </p:nvSpPr>
        <p:spPr>
          <a:xfrm>
            <a:off x="868680" y="279527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08760" y="2694686"/>
            <a:ext cx="9875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Методологията решава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060446"/>
            <a:ext cx="987552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изтичане по играч завишава с ~6 п.п.; GroupKFold дава реалната оценка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3627374"/>
            <a:ext cx="10881360" cy="960120"/>
          </a:xfrm>
          <a:prstGeom prst="rect">
            <a:avLst/>
          </a:prstGeom>
          <a:solidFill>
            <a:srgbClr val="F4F6F9"/>
          </a:solidFill>
          <a:ln w="12700">
            <a:solidFill>
              <a:srgbClr val="D5DCE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3874262"/>
            <a:ext cx="457200" cy="457200"/>
          </a:xfrm>
          <a:prstGeom prst="ellipse">
            <a:avLst/>
          </a:prstGeom>
          <a:solidFill>
            <a:srgbClr val="E8731C"/>
          </a:solidFill>
        </p:spPr>
      </p:sp>
      <p:sp>
        <p:nvSpPr>
          <p:cNvPr id="18" name="Text 16"/>
          <p:cNvSpPr/>
          <p:nvPr/>
        </p:nvSpPr>
        <p:spPr>
          <a:xfrm>
            <a:off x="868680" y="387426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08760" y="3773678"/>
            <a:ext cx="9875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Прогнозата на бъдеще е коректно поставена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508760" y="4139438"/>
            <a:ext cx="987552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разделяне във времето + без survivorship bias → честни резултати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" y="4706366"/>
            <a:ext cx="10881360" cy="960120"/>
          </a:xfrm>
          <a:prstGeom prst="rect">
            <a:avLst/>
          </a:prstGeom>
          <a:solidFill>
            <a:srgbClr val="F4F6F9"/>
          </a:solidFill>
          <a:ln w="12700">
            <a:solidFill>
              <a:srgbClr val="D5DCE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68680" y="4953254"/>
            <a:ext cx="457200" cy="457200"/>
          </a:xfrm>
          <a:prstGeom prst="ellipse">
            <a:avLst/>
          </a:prstGeom>
          <a:solidFill>
            <a:srgbClr val="E8731C"/>
          </a:solidFill>
        </p:spPr>
      </p:sp>
      <p:sp>
        <p:nvSpPr>
          <p:cNvPr id="23" name="Text 21"/>
          <p:cNvSpPr/>
          <p:nvPr/>
        </p:nvSpPr>
        <p:spPr>
          <a:xfrm>
            <a:off x="868680" y="495325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508760" y="4852670"/>
            <a:ext cx="9875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Резултати на нивото на Kaggle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508760" y="5218430"/>
            <a:ext cx="987552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позиция ~0.78 · кариера ~0.75, при по-трудни задачи и по-чиста методология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5495</Words>
  <Application>WPS Presentation</Application>
  <PresentationFormat>On-screen Show (16:9)</PresentationFormat>
  <Paragraphs>344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1" baseType="lpstr">
      <vt:lpstr>Arial</vt:lpstr>
      <vt:lpstr>SimSun</vt:lpstr>
      <vt:lpstr>Wingdings</vt:lpstr>
      <vt:lpstr>Trebuchet MS</vt:lpstr>
      <vt:lpstr>Trebuchet MS</vt:lpstr>
      <vt:lpstr>Trebuchet MS</vt:lpstr>
      <vt:lpstr>Calibri</vt:lpstr>
      <vt:lpstr>Helvetica Neue</vt:lpstr>
      <vt:lpstr>Calibri</vt:lpstr>
      <vt:lpstr>Calibri</vt:lpstr>
      <vt:lpstr>Calibri</vt:lpstr>
      <vt:lpstr>Arial</vt:lpstr>
      <vt:lpstr>Microsoft YaHei</vt:lpstr>
      <vt:lpstr>汉仪旗黑</vt:lpstr>
      <vt:lpstr>Arial Unicode MS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Random Forest — NBA анализ</dc:title>
  <dc:creator>Евгени Дарманчев</dc:creator>
  <dc:subject>PptxGenJS Presentation</dc:subject>
  <cp:lastModifiedBy>Evgeni Darmanchev</cp:lastModifiedBy>
  <cp:revision>2</cp:revision>
  <dcterms:created xsi:type="dcterms:W3CDTF">2026-06-15T09:21:06Z</dcterms:created>
  <dcterms:modified xsi:type="dcterms:W3CDTF">2026-06-15T09:21:06Z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DEC744195839E0EF02C42F6A8119D070_42</vt:lpwstr>
  </property>
  <property fmtid="{D5CDD505-2E9C-101B-9397-08002B2CF9AE}" pid="3" name="KSOProductBuildVer">
    <vt:lpwstr>1033-12.1.25880.25880</vt:lpwstr>
  </property>
</Properties>
</file>